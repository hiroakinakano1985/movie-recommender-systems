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Movie Recommender Systems</a:t>
            </a:r>
          </a:p>
          <a:p>
            <a:pPr>
              <a:defRPr sz="2400">
                <a:solidFill>
                  <a:srgbClr val="9CB6E8"/>
                </a:solidFill>
              </a:defRPr>
            </a:pPr>
            <a:r>
              <a:t>Building &amp; comparing a recommender prototype — Individual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4572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7D2EC"/>
                </a:solidFill>
              </a:defRPr>
            </a:pPr>
            <a:r>
              <a:t>Recommender Systems — Prof. Marc Torrens, Esade</a:t>
            </a:r>
          </a:p>
          <a:p>
            <a:pPr>
              <a:defRPr sz="1800">
                <a:solidFill>
                  <a:srgbClr val="C7D2EC"/>
                </a:solidFill>
              </a:defRPr>
            </a:pPr>
            <a:r>
              <a:t>Hiroaki Nakano</a:t>
            </a:r>
          </a:p>
          <a:p>
            <a:pPr>
              <a:defRPr sz="1400">
                <a:solidFill>
                  <a:srgbClr val="C7D2EC"/>
                </a:solidFill>
              </a:defRPr>
            </a:pPr>
            <a: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64592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Project Goal &amp;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1">
                <a:solidFill>
                  <a:srgbClr val="2E6FF2"/>
                </a:solidFill>
              </a:defRPr>
            </a:pPr>
            <a:r>
              <a:t>One prototype, built up method by method on a single dataset.</a:t>
            </a:r>
          </a:p>
          <a:p>
            <a:pPr lvl="1">
              <a:spcAft>
                <a:spcPts val="1100"/>
              </a:spcAft>
              <a:defRPr sz="1800" b="0">
                <a:solidFill>
                  <a:srgbClr val="1F2A44"/>
                </a:solidFill>
              </a:defRPr>
            </a:pPr>
            <a:r>
              <a:t>Movie track — MovieLens Latest Small (100k ratings, 610 users, 9.7k movies).</a:t>
            </a:r>
          </a:p>
          <a:p>
            <a:pPr>
              <a:spcAft>
                <a:spcPts val="1100"/>
              </a:spcAft>
              <a:defRPr sz="2000" b="1">
                <a:solidFill>
                  <a:srgbClr val="2E6FF2"/>
                </a:solidFill>
              </a:defRPr>
            </a:pPr>
            <a:r>
              <a:t>Implement and compare seven recommenders on identical data &amp; splits.</a:t>
            </a:r>
          </a:p>
          <a:p>
            <a:pPr lvl="1">
              <a:spcAft>
                <a:spcPts val="1100"/>
              </a:spcAft>
              <a:defRPr sz="1800" b="0">
                <a:solidFill>
                  <a:srgbClr val="1F2A44"/>
                </a:solidFill>
              </a:defRPr>
            </a:pPr>
            <a:r>
              <a:t>Non-personalized baselines, content-based, item-item &amp; user-user CF, matrix factorization.</a:t>
            </a:r>
          </a:p>
          <a:p>
            <a:pPr>
              <a:spcAft>
                <a:spcPts val="1100"/>
              </a:spcAft>
              <a:defRPr sz="2000" b="1">
                <a:solidFill>
                  <a:srgbClr val="2E6FF2"/>
                </a:solidFill>
              </a:defRPr>
            </a:pPr>
            <a:r>
              <a:t>Think beyond accuracy.</a:t>
            </a:r>
          </a:p>
          <a:p>
            <a:pPr lvl="1">
              <a:spcAft>
                <a:spcPts val="1100"/>
              </a:spcAft>
              <a:defRPr sz="1800" b="0">
                <a:solidFill>
                  <a:srgbClr val="1F2A44"/>
                </a:solidFill>
              </a:defRPr>
            </a:pPr>
            <a:r>
              <a:t>Also measure coverage, novelty, diversity and popularity bias — accuracy alone is misleading.</a:t>
            </a:r>
          </a:p>
          <a:p>
            <a:pPr>
              <a:spcAft>
                <a:spcPts val="1100"/>
              </a:spcAft>
              <a:defRPr sz="2000" b="1">
                <a:solidFill>
                  <a:srgbClr val="2E6FF2"/>
                </a:solidFill>
              </a:defRPr>
            </a:pPr>
            <a:r>
              <a:t>Ship a usable prototype.</a:t>
            </a:r>
          </a:p>
          <a:p>
            <a:pPr lvl="1">
              <a:spcAft>
                <a:spcPts val="1100"/>
              </a:spcAft>
              <a:defRPr sz="1800" b="0">
                <a:solidFill>
                  <a:srgbClr val="1F2A44"/>
                </a:solidFill>
              </a:defRPr>
            </a:pPr>
            <a:r>
              <a:t>Interactive Streamlit app: explore a user, compare algorithms, read 'why' explanations.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64592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Dataset &amp;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E6FF2"/>
                </a:solidFill>
              </a:defRPr>
            </a:pPr>
            <a:r>
              <a:t>MovieLens Latest Small (GroupLens)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1F2A44"/>
                </a:solidFill>
              </a:defRPr>
            </a:pPr>
            <a:r>
              <a:t>610 users · 9,724 rated movies · 100,836 ratings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1F2A44"/>
                </a:solidFill>
              </a:defRPr>
            </a:pPr>
            <a:r>
              <a:t>Ratings 0.5–5.0, mean 3.5, mode 4.0 (positivity bias)</a:t>
            </a:r>
          </a:p>
          <a:p>
            <a:pPr>
              <a:spcAft>
                <a:spcPts val="800"/>
              </a:spcAft>
              <a:defRPr sz="1800" b="1">
                <a:solidFill>
                  <a:srgbClr val="2E6FF2"/>
                </a:solidFill>
              </a:defRPr>
            </a:pPr>
            <a:r>
              <a:t>Matrix is 98.3% sparse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1F2A44"/>
                </a:solidFill>
              </a:defRPr>
            </a:pPr>
            <a:r>
              <a:t>Normal — even dense — by recommender standards</a:t>
            </a:r>
          </a:p>
          <a:p>
            <a:pPr>
              <a:spcAft>
                <a:spcPts val="800"/>
              </a:spcAft>
              <a:defRPr sz="1800" b="1">
                <a:solidFill>
                  <a:srgbClr val="2E6FF2"/>
                </a:solidFill>
              </a:defRPr>
            </a:pPr>
            <a:r>
              <a:t>Sparsity is asymmetric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1F2A44"/>
                </a:solidFill>
              </a:defRPr>
            </a:pPr>
            <a:r>
              <a:t>Users are thick: median 70 ratings each (min 20)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1F2A44"/>
                </a:solidFill>
              </a:defRPr>
            </a:pPr>
            <a:r>
              <a:t>Items are thin: median 3 ratings; heavy long tail</a:t>
            </a:r>
          </a:p>
          <a:p>
            <a:pPr lvl="1">
              <a:spcAft>
                <a:spcPts val="800"/>
              </a:spcAft>
              <a:defRPr sz="1600" b="1">
                <a:solidFill>
                  <a:srgbClr val="555E6E"/>
                </a:solidFill>
              </a:defRPr>
            </a:pPr>
            <a:r>
              <a:t>~20% of movies hold 80% of all ratings</a:t>
            </a:r>
          </a:p>
        </p:txBody>
      </p:sp>
      <p:pic>
        <p:nvPicPr>
          <p:cNvPr id="4" name="Picture 3" descr="long_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486400" cy="30978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5394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55E6E"/>
                </a:solidFill>
              </a:defRPr>
            </a:pPr>
            <a:r>
              <a:t>Long tail: a small head of movies dominates ratings.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64592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Design Challenge: Sparsity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F2A44"/>
                </a:solidFill>
              </a:defRPr>
            </a:pPr>
            <a:r>
              <a:t>Each method handles the thin item axis differently:</a:t>
            </a:r>
          </a:p>
          <a:p>
            <a:pPr>
              <a:spcAft>
                <a:spcPts val="900"/>
              </a:spcAft>
              <a:defRPr sz="1800" b="1">
                <a:solidFill>
                  <a:srgbClr val="2E6FF2"/>
                </a:solidFill>
              </a:defRPr>
            </a:pPr>
            <a:r>
              <a:t>Matrix factorization — learns dense latent vectors from observed ratings; built for sparsity.</a:t>
            </a:r>
          </a:p>
          <a:p>
            <a:pPr>
              <a:spcAft>
                <a:spcPts val="900"/>
              </a:spcAft>
              <a:defRPr sz="1800" b="1">
                <a:solidFill>
                  <a:srgbClr val="2E6FF2"/>
                </a:solidFill>
              </a:defRPr>
            </a:pPr>
            <a:r>
              <a:t>Content-based — uses item metadata, not co-ratings; works even for long-tail items.</a:t>
            </a:r>
          </a:p>
          <a:p>
            <a:pPr>
              <a:spcAft>
                <a:spcPts val="900"/>
              </a:spcAft>
              <a:defRPr sz="1800" b="1">
                <a:solidFill>
                  <a:srgbClr val="2E6FF2"/>
                </a:solidFill>
              </a:defRPr>
            </a:pPr>
            <a:r>
              <a:t>Neighbourhood CF — needs safeguards, or tail items produce noisy similarities:</a:t>
            </a:r>
          </a:p>
          <a:p>
            <a:pPr lvl="1">
              <a:spcAft>
                <a:spcPts val="900"/>
              </a:spcAft>
              <a:defRPr sz="1600" b="0">
                <a:solidFill>
                  <a:srgbClr val="1F2A44"/>
                </a:solidFill>
              </a:defRPr>
            </a:pPr>
            <a:r>
              <a:t>min_support: drop items rated by &lt; 5 users from the neighbourhood model.</a:t>
            </a:r>
          </a:p>
          <a:p>
            <a:pPr lvl="1">
              <a:spcAft>
                <a:spcPts val="900"/>
              </a:spcAft>
              <a:defRPr sz="1600" b="0">
                <a:solidFill>
                  <a:srgbClr val="1F2A44"/>
                </a:solidFill>
              </a:defRPr>
            </a:pPr>
            <a:r>
              <a:t>shrinkage: sim_adj = n_ij / (n_ij + λ) · sim — distrust similarities from few co-ratings.</a:t>
            </a:r>
          </a:p>
          <a:p>
            <a:pPr lvl="1">
              <a:spcAft>
                <a:spcPts val="900"/>
              </a:spcAft>
              <a:defRPr sz="1600" b="0">
                <a:solidFill>
                  <a:srgbClr val="1F2A44"/>
                </a:solidFill>
              </a:defRPr>
            </a:pPr>
            <a:r>
              <a:t>adjusted cosine: mean-center each user's ratings before similarity.</a:t>
            </a:r>
          </a:p>
          <a:p>
            <a:pPr>
              <a:spcAft>
                <a:spcPts val="900"/>
              </a:spcAft>
              <a:defRPr sz="1800" b="1">
                <a:solidFill>
                  <a:srgbClr val="1B7F4B"/>
                </a:solidFill>
              </a:defRPr>
            </a:pPr>
            <a:r>
              <a:t>Lesson: standard methods DO work at 98% sparsity — the trick is matching method to the data's weak axis.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64592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Methods Implemented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Family</a:t>
                      </a:r>
                    </a:p>
                  </a:txBody>
                  <a:tcPr anchor="ctr">
                    <a:solidFill>
                      <a:srgbClr val="2E6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anchor="ctr">
                    <a:solidFill>
                      <a:srgbClr val="2E6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Idea in one line</a:t>
                      </a:r>
                    </a:p>
                  </a:txBody>
                  <a:tcPr anchor="ctr">
                    <a:solidFill>
                      <a:srgbClr val="2E6F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A44"/>
                          </a:solidFill>
                        </a:rPr>
                        <a:t>Non-personalized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A44"/>
                          </a:solidFill>
                        </a:rPr>
                        <a:t>Most Popular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A44"/>
                          </a:solidFill>
                        </a:rPr>
                        <a:t>Rank by number of ratings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A44"/>
                          </a:solidFill>
                        </a:rPr>
                        <a:t>Non-personalized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A44"/>
                          </a:solidFill>
                        </a:rPr>
                        <a:t>Highest Average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A44"/>
                          </a:solidFill>
                        </a:rPr>
                        <a:t>Top mean rating, min 20 ratings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A44"/>
                          </a:solidFill>
                        </a:rPr>
                        <a:t>Non-personalized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A44"/>
                          </a:solidFill>
                        </a:rPr>
                        <a:t>Random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A44"/>
                          </a:solidFill>
                        </a:rPr>
                        <a:t>Lower-bound / coverage reference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A44"/>
                          </a:solidFill>
                        </a:rPr>
                        <a:t>Content-based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A44"/>
                          </a:solidFill>
                        </a:rPr>
                        <a:t>TF-IDF genres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A44"/>
                          </a:solidFill>
                        </a:rPr>
                        <a:t>Cosine of user profile vs item genre vectors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A44"/>
                          </a:solidFill>
                        </a:rPr>
                        <a:t>Collaborative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A44"/>
                          </a:solidFill>
                        </a:rPr>
                        <a:t>Item-Item CF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A44"/>
                          </a:solidFill>
                        </a:rPr>
                        <a:t>Adjusted cosine + shrinkage, k-NN over items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A44"/>
                          </a:solidFill>
                        </a:rPr>
                        <a:t>Collaborative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A44"/>
                          </a:solidFill>
                        </a:rPr>
                        <a:t>User-User CF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A44"/>
                          </a:solidFill>
                        </a:rPr>
                        <a:t>Same, over the (denser) user axis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A44"/>
                          </a:solidFill>
                        </a:rPr>
                        <a:t>Latent factor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A44"/>
                          </a:solidFill>
                        </a:rPr>
                        <a:t>Matrix Factorization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A44"/>
                          </a:solidFill>
                        </a:rPr>
                        <a:t>Biased SGD: mu + b_u + b_i + p_u·q_i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8521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555E6E"/>
                </a:solidFill>
              </a:defRPr>
            </a:pPr>
            <a:r>
              <a:t>MF is written from scratch in NumPy (scikit-surprise does not build on Python 3.14) — fully transparent.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64592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Evaluation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E6FF2"/>
                </a:solidFill>
              </a:defRPr>
            </a:pPr>
            <a:r>
              <a:t>Split: per-user stratified 80/20 — every user keeps train history and held-out test items.</a:t>
            </a:r>
          </a:p>
          <a:p>
            <a:pPr>
              <a:spcAft>
                <a:spcPts val="1000"/>
              </a:spcAft>
              <a:defRPr sz="1900" b="1">
                <a:solidFill>
                  <a:srgbClr val="2E6FF2"/>
                </a:solidFill>
              </a:defRPr>
            </a:pPr>
            <a:r>
              <a:t>Relevance: a test item counts as relevant if the user rated it ≥ 4.0 (positivity-aware).</a:t>
            </a:r>
          </a:p>
          <a:p>
            <a:pPr>
              <a:spcAft>
                <a:spcPts val="1000"/>
              </a:spcAft>
              <a:defRPr sz="1900" b="1">
                <a:solidFill>
                  <a:srgbClr val="2E6FF2"/>
                </a:solidFill>
              </a:defRPr>
            </a:pPr>
            <a:r>
              <a:t>Top-N ranking metrics (K=10):</a:t>
            </a:r>
          </a:p>
          <a:p>
            <a:pPr lvl="1">
              <a:spcAft>
                <a:spcPts val="1000"/>
              </a:spcAft>
              <a:defRPr sz="1700" b="0">
                <a:solidFill>
                  <a:srgbClr val="1F2A44"/>
                </a:solidFill>
              </a:defRPr>
            </a:pPr>
            <a:r>
              <a:t>Precision@K, Recall@K, NDCG@K, MRR@K, Hit-Rate@K.</a:t>
            </a:r>
          </a:p>
          <a:p>
            <a:pPr>
              <a:spcAft>
                <a:spcPts val="1000"/>
              </a:spcAft>
              <a:defRPr sz="1900" b="1">
                <a:solidFill>
                  <a:srgbClr val="2E6FF2"/>
                </a:solidFill>
              </a:defRPr>
            </a:pPr>
            <a:r>
              <a:t>Beyond-accuracy metrics:</a:t>
            </a:r>
          </a:p>
          <a:p>
            <a:pPr lvl="1">
              <a:spcAft>
                <a:spcPts val="1000"/>
              </a:spcAft>
              <a:defRPr sz="1700" b="0">
                <a:solidFill>
                  <a:srgbClr val="1F2A44"/>
                </a:solidFill>
              </a:defRPr>
            </a:pPr>
            <a:r>
              <a:t>Catalog coverage, novelty (mean −log₂ P(item)), intra-list diversity (1 − cosine over genres).</a:t>
            </a:r>
          </a:p>
          <a:p>
            <a:pPr>
              <a:spcAft>
                <a:spcPts val="1000"/>
              </a:spcAft>
              <a:defRPr sz="1900" b="1">
                <a:solidFill>
                  <a:srgbClr val="2E6FF2"/>
                </a:solidFill>
              </a:defRPr>
            </a:pPr>
            <a:r>
              <a:t>Rating-prediction metrics (models with predict_score): RMSE, MAE.</a:t>
            </a:r>
          </a:p>
          <a:p>
            <a:pPr>
              <a:spcAft>
                <a:spcPts val="1000"/>
              </a:spcAft>
              <a:defRPr sz="1900" b="0">
                <a:solidFill>
                  <a:srgbClr val="555E6E"/>
                </a:solidFill>
              </a:defRPr>
            </a:pPr>
            <a:r>
              <a:t>Averaged over the 599 users that have at least one relevant test item.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64592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Method Comparison — Results (K=10)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anchor="ctr">
                    <a:solidFill>
                      <a:srgbClr val="2E6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NDCG</a:t>
                      </a:r>
                    </a:p>
                  </a:txBody>
                  <a:tcPr anchor="ctr">
                    <a:solidFill>
                      <a:srgbClr val="2E6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P@10</a:t>
                      </a:r>
                    </a:p>
                  </a:txBody>
                  <a:tcPr anchor="ctr">
                    <a:solidFill>
                      <a:srgbClr val="2E6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anchor="ctr">
                    <a:solidFill>
                      <a:srgbClr val="2E6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HitRate</a:t>
                      </a:r>
                    </a:p>
                  </a:txBody>
                  <a:tcPr anchor="ctr">
                    <a:solidFill>
                      <a:srgbClr val="2E6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Coverage</a:t>
                      </a:r>
                    </a:p>
                  </a:txBody>
                  <a:tcPr anchor="ctr">
                    <a:solidFill>
                      <a:srgbClr val="2E6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Novelty</a:t>
                      </a:r>
                    </a:p>
                  </a:txBody>
                  <a:tcPr anchor="ctr">
                    <a:solidFill>
                      <a:srgbClr val="2E6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Diversity</a:t>
                      </a:r>
                    </a:p>
                  </a:txBody>
                  <a:tcPr anchor="ctr">
                    <a:solidFill>
                      <a:srgbClr val="2E6F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7F4B"/>
                          </a:solidFill>
                        </a:rPr>
                        <a:t>User-User CF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7F4B"/>
                          </a:solidFill>
                        </a:rPr>
                        <a:t>0.219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7F4B"/>
                          </a:solidFill>
                        </a:rPr>
                        <a:t>0.163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7F4B"/>
                          </a:solidFill>
                        </a:rPr>
                        <a:t>0.145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7F4B"/>
                          </a:solidFill>
                        </a:rPr>
                        <a:t>0.648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7F4B"/>
                          </a:solidFill>
                        </a:rPr>
                        <a:t>0.031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7F4B"/>
                          </a:solidFill>
                        </a:rPr>
                        <a:t>2.19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7F4B"/>
                          </a:solidFill>
                        </a:rPr>
                        <a:t>0.75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Item-Item CF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0.211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0.155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0.126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0.644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0.086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2.80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0.72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Most Popular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0.161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0.122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0.104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0.574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0.006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1.66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Matrix Factorization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0.072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0.056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0.041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0.356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0.049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3.41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0.78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Highest Average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0.062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0.046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0.034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0.301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3.39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Content-Based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0.008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0.007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0.005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0.063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0.341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7.28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0.085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Random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0.013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0.489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7.57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4864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F2A44"/>
                </a:solidFill>
              </a:defRPr>
            </a:pPr>
            <a:r>
              <a:t>Neighbourhood CF wins ranking; user-user edges item-item because the user axis is denser.</a:t>
            </a:r>
          </a:p>
          <a:p>
            <a:pPr>
              <a:spcAft>
                <a:spcPts val="600"/>
              </a:spcAft>
              <a:defRPr sz="1500" b="0">
                <a:solidFill>
                  <a:srgbClr val="1F2A44"/>
                </a:solidFill>
              </a:defRPr>
            </a:pPr>
            <a:r>
              <a:t>Most-popular is a strong accuracy baseline but touches only 0.6% of the catalog — pure popularity bias.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64592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Accuracy is Not Enough</a:t>
            </a:r>
          </a:p>
        </p:txBody>
      </p:sp>
      <p:pic>
        <p:nvPicPr>
          <p:cNvPr id="3" name="Picture 2" descr="accuracy_vs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43324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66560" y="1371600"/>
            <a:ext cx="49377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E6FF2"/>
                </a:solidFill>
              </a:defRPr>
            </a:pPr>
            <a:r>
              <a:t>The accuracy–coverage frontier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1F2A44"/>
                </a:solidFill>
              </a:defRPr>
            </a:pPr>
            <a:r>
              <a:t>Most accurate methods recommend from a tiny slice of the catalog.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1F2A44"/>
                </a:solidFill>
              </a:defRPr>
            </a:pPr>
            <a:r>
              <a:t>High-coverage methods (content, random) are inaccurate.</a:t>
            </a:r>
          </a:p>
          <a:p>
            <a:pPr>
              <a:spcAft>
                <a:spcPts val="1000"/>
              </a:spcAft>
              <a:defRPr sz="1800" b="1">
                <a:solidFill>
                  <a:srgbClr val="2E6FF2"/>
                </a:solidFill>
              </a:defRPr>
            </a:pPr>
            <a:r>
              <a:t>No single winner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1F2A44"/>
                </a:solidFill>
              </a:defRPr>
            </a:pPr>
            <a:r>
              <a:t>A product must choose a point on this frontier.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1F2A44"/>
                </a:solidFill>
              </a:defRPr>
            </a:pPr>
            <a:r>
              <a:t>Discovery-focused service → accept lower accuracy for coverage/novelty.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1F2A44"/>
                </a:solidFill>
              </a:defRPr>
            </a:pPr>
            <a:r>
              <a:t>'Safe' service → popularity / CF.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64592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Beyond Accuracy: Novelty &amp; Diversity</a:t>
            </a:r>
          </a:p>
        </p:txBody>
      </p:sp>
      <p:pic>
        <p:nvPicPr>
          <p:cNvPr id="3" name="Picture 2" descr="novelty_d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498079" cy="28448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46304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E6FF2"/>
                </a:solidFill>
              </a:defRPr>
            </a:pPr>
            <a:r>
              <a:t>Novelty: −log₂ P(item)</a:t>
            </a:r>
          </a:p>
          <a:p>
            <a:pPr lvl="1">
              <a:spcAft>
                <a:spcPts val="1000"/>
              </a:spcAft>
              <a:defRPr sz="1500" b="0">
                <a:solidFill>
                  <a:srgbClr val="1F2A44"/>
                </a:solidFill>
              </a:defRPr>
            </a:pPr>
            <a:r>
              <a:t>Popular = low novelty; niche = high.</a:t>
            </a:r>
          </a:p>
          <a:p>
            <a:pPr>
              <a:spcAft>
                <a:spcPts val="1000"/>
              </a:spcAft>
              <a:defRPr sz="1700" b="1">
                <a:solidFill>
                  <a:srgbClr val="2E6FF2"/>
                </a:solidFill>
              </a:defRPr>
            </a:pPr>
            <a:r>
              <a:t>Diversity: spread of a single list</a:t>
            </a:r>
          </a:p>
          <a:p>
            <a:pPr lvl="1">
              <a:spcAft>
                <a:spcPts val="1000"/>
              </a:spcAft>
              <a:defRPr sz="1500" b="0">
                <a:solidFill>
                  <a:srgbClr val="1F2A44"/>
                </a:solidFill>
              </a:defRPr>
            </a:pPr>
            <a:r>
              <a:t>Content-based is highly novel but has very LOW diversity — it locks onto one genre cluster.</a:t>
            </a:r>
          </a:p>
          <a:p>
            <a:pPr>
              <a:spcAft>
                <a:spcPts val="1000"/>
              </a:spcAft>
              <a:defRPr sz="1700" b="0">
                <a:solidFill>
                  <a:srgbClr val="555E6E"/>
                </a:solidFill>
              </a:defRPr>
            </a:pPr>
            <a:r>
              <a:t>These trade-offs are invisible to accuracy metrics.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64592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Matrix Factorization: Right Tool, Wrong Metric</a:t>
            </a:r>
          </a:p>
        </p:txBody>
      </p:sp>
      <p:pic>
        <p:nvPicPr>
          <p:cNvPr id="3" name="Picture 2" descr="rating_pred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035040" cy="3407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66560" y="128016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E6FF2"/>
                </a:solidFill>
              </a:defRPr>
            </a:pPr>
            <a:r>
              <a:t>MF looks weak on top-N (NDCG 0.072)…</a:t>
            </a:r>
          </a:p>
          <a:p>
            <a:pPr>
              <a:spcAft>
                <a:spcPts val="900"/>
              </a:spcAft>
              <a:defRPr sz="1700" b="1">
                <a:solidFill>
                  <a:srgbClr val="1B7F4B"/>
                </a:solidFill>
              </a:defRPr>
            </a:pPr>
            <a:r>
              <a:t>…but it is the BEST rating predictor:</a:t>
            </a:r>
          </a:p>
          <a:p>
            <a:pPr lvl="1">
              <a:spcAft>
                <a:spcPts val="900"/>
              </a:spcAft>
              <a:defRPr sz="1500" b="0">
                <a:solidFill>
                  <a:srgbClr val="1F2A44"/>
                </a:solidFill>
              </a:defRPr>
            </a:pPr>
            <a:r>
              <a:t>RMSE 0.885 vs item-item 0.905; ~15% better than the global-mean baseline (1.04).</a:t>
            </a:r>
          </a:p>
          <a:p>
            <a:pPr>
              <a:spcAft>
                <a:spcPts val="900"/>
              </a:spcAft>
              <a:defRPr sz="1700" b="1">
                <a:solidFill>
                  <a:srgbClr val="2E6FF2"/>
                </a:solidFill>
              </a:defRPr>
            </a:pPr>
            <a:r>
              <a:t>Why the gap?</a:t>
            </a:r>
          </a:p>
          <a:p>
            <a:pPr lvl="1">
              <a:spcAft>
                <a:spcPts val="900"/>
              </a:spcAft>
              <a:defRPr sz="1500" b="0">
                <a:solidFill>
                  <a:srgbClr val="1F2A44"/>
                </a:solidFill>
              </a:defRPr>
            </a:pPr>
            <a:r>
              <a:t>MF minimizes squared error, not ranking. Good RMSE ≠ good top-10.</a:t>
            </a:r>
          </a:p>
          <a:p>
            <a:pPr lvl="1">
              <a:spcAft>
                <a:spcPts val="900"/>
              </a:spcAft>
              <a:defRPr sz="1500" b="0">
                <a:solidFill>
                  <a:srgbClr val="1F2A44"/>
                </a:solidFill>
              </a:defRPr>
            </a:pPr>
            <a:r>
              <a:t>Fix for production: ranking objective (BPR / implicit-feedback / logistic MF).</a:t>
            </a:r>
          </a:p>
          <a:p>
            <a:pPr>
              <a:spcAft>
                <a:spcPts val="900"/>
              </a:spcAft>
              <a:defRPr sz="1700" b="0">
                <a:solidFill>
                  <a:srgbClr val="555E6E"/>
                </a:solidFill>
              </a:defRPr>
            </a:pPr>
            <a:r>
              <a:t>'MF doesn't work' is wrong — it optimizes a different objective.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64592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Ablation — TF-IDF vs. Raw Genre Vectors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F2A44"/>
                </a:solidFill>
              </a:defRPr>
            </a:pPr>
            <a:r>
              <a:t>Does weighting genres by rarity (TF-IDF) beat treating every genre equally (raw 0/1)?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92024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Content-based variant</a:t>
                      </a:r>
                    </a:p>
                  </a:txBody>
                  <a:tcPr anchor="ctr">
                    <a:solidFill>
                      <a:srgbClr val="2E6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NDCG</a:t>
                      </a:r>
                    </a:p>
                  </a:txBody>
                  <a:tcPr anchor="ctr">
                    <a:solidFill>
                      <a:srgbClr val="2E6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P@10</a:t>
                      </a:r>
                    </a:p>
                  </a:txBody>
                  <a:tcPr anchor="ctr">
                    <a:solidFill>
                      <a:srgbClr val="2E6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anchor="ctr">
                    <a:solidFill>
                      <a:srgbClr val="2E6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HitRate</a:t>
                      </a:r>
                    </a:p>
                  </a:txBody>
                  <a:tcPr anchor="ctr">
                    <a:solidFill>
                      <a:srgbClr val="2E6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Coverage</a:t>
                      </a:r>
                    </a:p>
                  </a:txBody>
                  <a:tcPr anchor="ctr">
                    <a:solidFill>
                      <a:srgbClr val="2E6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Novelty</a:t>
                      </a:r>
                    </a:p>
                  </a:txBody>
                  <a:tcPr anchor="ctr">
                    <a:solidFill>
                      <a:srgbClr val="2E6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Diversity</a:t>
                      </a:r>
                    </a:p>
                  </a:txBody>
                  <a:tcPr anchor="ctr">
                    <a:solidFill>
                      <a:srgbClr val="2E6F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TF-IDF genres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7F4B"/>
                          </a:solidFill>
                        </a:rPr>
                        <a:t>0.0076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7F4B"/>
                          </a:solidFill>
                        </a:rPr>
                        <a:t>0.0068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7F4B"/>
                          </a:solidFill>
                        </a:rPr>
                        <a:t>0.0047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7F4B"/>
                          </a:solidFill>
                        </a:rPr>
                        <a:t>0.063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0.341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7.28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7F4B"/>
                          </a:solidFill>
                        </a:rPr>
                        <a:t>0.085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Raw genre vectors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0.0056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0.0058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0.0035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0.053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7F4B"/>
                          </a:solidFill>
                        </a:rPr>
                        <a:t>0.352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7F4B"/>
                          </a:solidFill>
                        </a:rPr>
                        <a:t>7.29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0.075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749039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E6FF2"/>
                </a:solidFill>
              </a:defRPr>
            </a:pPr>
            <a:r>
              <a:t>TF-IDF wins 5 of 7 metrics — all four accuracy metrics plus diversity.</a:t>
            </a:r>
          </a:p>
          <a:p>
            <a:pPr lvl="1">
              <a:spcAft>
                <a:spcPts val="900"/>
              </a:spcAft>
              <a:defRPr sz="1500" b="0">
                <a:solidFill>
                  <a:srgbClr val="1F2A44"/>
                </a:solidFill>
              </a:defRPr>
            </a:pPr>
            <a:r>
              <a:t>NDCG +36% relative (0.0056 → 0.0076): IDF up-weights distinctive genres (Film-Noir, Western), building more discriminative profiles.</a:t>
            </a:r>
          </a:p>
          <a:p>
            <a:pPr>
              <a:spcAft>
                <a:spcPts val="900"/>
              </a:spcAft>
              <a:defRPr sz="1700" b="1">
                <a:solidFill>
                  <a:srgbClr val="2E6FF2"/>
                </a:solidFill>
              </a:defRPr>
            </a:pPr>
            <a:r>
              <a:t>Raw genre vectors only edge ahead on coverage and novelty.</a:t>
            </a:r>
          </a:p>
          <a:p>
            <a:pPr lvl="1">
              <a:spcAft>
                <a:spcPts val="900"/>
              </a:spcAft>
              <a:defRPr sz="1500" b="0">
                <a:solidFill>
                  <a:srgbClr val="1F2A44"/>
                </a:solidFill>
              </a:defRPr>
            </a:pPr>
            <a:r>
              <a:t>Treating every genre equally spreads picks slightly wider across the catalog.</a:t>
            </a:r>
          </a:p>
          <a:p>
            <a:pPr>
              <a:spcAft>
                <a:spcPts val="900"/>
              </a:spcAft>
              <a:defRPr sz="1700" b="1">
                <a:solidFill>
                  <a:srgbClr val="2E6FF2"/>
                </a:solidFill>
              </a:defRPr>
            </a:pPr>
            <a:r>
              <a:t>The effect is small by construction:</a:t>
            </a:r>
          </a:p>
          <a:p>
            <a:pPr lvl="1">
              <a:spcAft>
                <a:spcPts val="900"/>
              </a:spcAft>
              <a:defRPr sz="1500" b="0">
                <a:solidFill>
                  <a:srgbClr val="1F2A44"/>
                </a:solidFill>
              </a:defRPr>
            </a:pPr>
            <a:r>
              <a:t>~20 genre tokens and term-frequency ≡ 1, so only the IDF term is active — richer text (tags, synopsis) would help more.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64592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Recommendation Examples (User 599)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F2A44"/>
                </a:solidFill>
              </a:defRPr>
            </a:pPr>
            <a:r>
              <a:t>Same user, top-5 from each method — the personalities are clearly different: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anchor="ctr">
                    <a:solidFill>
                      <a:srgbClr val="2E6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Top recommendations</a:t>
                      </a:r>
                    </a:p>
                  </a:txBody>
                  <a:tcPr anchor="ctr">
                    <a:solidFill>
                      <a:srgbClr val="2E6F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A44"/>
                          </a:solidFill>
                        </a:rPr>
                        <a:t>Most Popular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A44"/>
                          </a:solidFill>
                        </a:rPr>
                        <a:t>Matrix · Star Wars IV · Schindler's List · Empire Strikes Back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A44"/>
                          </a:solidFill>
                        </a:rPr>
                        <a:t>Item-Item CF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A44"/>
                          </a:solidFill>
                        </a:rPr>
                        <a:t>Eternal Sunshine · Matrix · Kill Bill 2 · Star Wars IV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A44"/>
                          </a:solidFill>
                        </a:rPr>
                        <a:t>User-User CF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A44"/>
                          </a:solidFill>
                        </a:rPr>
                        <a:t>Star Wars IV · Matrix · Empire Strikes Back · LotR Fellowship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A44"/>
                          </a:solidFill>
                        </a:rPr>
                        <a:t>Content-Based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A44"/>
                          </a:solidFill>
                        </a:rPr>
                        <a:t>Home for the Holidays · Mr. Holland's Opus · Tape · Focus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A44"/>
                          </a:solidFill>
                        </a:rPr>
                        <a:t>Matrix Fact.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A44"/>
                          </a:solidFill>
                        </a:rPr>
                        <a:t>Lawrence of Arabia · Donnie Darko · Kill Bill 2 · Some Like It Hot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949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555E6E"/>
                </a:solidFill>
              </a:defRPr>
            </a:pPr>
            <a:r>
              <a:t>CF leans to well-loved classics; content-based surfaces niche same-genre titles; MF mixes acclaimed films.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64592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Technical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E6FF2"/>
                </a:solidFill>
              </a:defRPr>
            </a:pPr>
            <a:r>
              <a:t>Ranking vs. rating in CF</a:t>
            </a:r>
          </a:p>
          <a:p>
            <a:pPr lvl="1">
              <a:spcAft>
                <a:spcPts val="700"/>
              </a:spcAft>
              <a:defRPr sz="1500" b="0">
                <a:solidFill>
                  <a:srgbClr val="1F2A44"/>
                </a:solidFill>
              </a:defRPr>
            </a:pPr>
            <a:r>
              <a:t>Normalizing scores by Σ|sim| let single-neighbour tail items flood top-N (P@10 collapsed to ~0.006).</a:t>
            </a:r>
          </a:p>
          <a:p>
            <a:pPr lvl="1">
              <a:spcAft>
                <a:spcPts val="700"/>
              </a:spcAft>
              <a:defRPr sz="1500" b="0">
                <a:solidFill>
                  <a:srgbClr val="1F2A44"/>
                </a:solidFill>
              </a:defRPr>
            </a:pPr>
            <a:r>
              <a:t>Fix: rank by the raw weighted sum; keep normalization only for rating prediction. P@10 → 0.155.</a:t>
            </a:r>
          </a:p>
          <a:p>
            <a:pPr>
              <a:spcAft>
                <a:spcPts val="700"/>
              </a:spcAft>
              <a:defRPr sz="1700" b="1">
                <a:solidFill>
                  <a:srgbClr val="2E6FF2"/>
                </a:solidFill>
              </a:defRPr>
            </a:pPr>
            <a:r>
              <a:t>Tuning MF for top-N</a:t>
            </a:r>
          </a:p>
          <a:p>
            <a:pPr lvl="1">
              <a:spcAft>
                <a:spcPts val="700"/>
              </a:spcAft>
              <a:defRPr sz="1500" b="0">
                <a:solidFill>
                  <a:srgbClr val="1F2A44"/>
                </a:solidFill>
              </a:defRPr>
            </a:pPr>
            <a:r>
              <a:t>More regularization helped RMSE but hurt ranking; settled on 50 factors, 30 epochs, λ=0.01.</a:t>
            </a:r>
          </a:p>
          <a:p>
            <a:pPr>
              <a:spcAft>
                <a:spcPts val="700"/>
              </a:spcAft>
              <a:defRPr sz="1700" b="1">
                <a:solidFill>
                  <a:srgbClr val="2E6FF2"/>
                </a:solidFill>
              </a:defRPr>
            </a:pPr>
            <a:r>
              <a:t>Library availability</a:t>
            </a:r>
          </a:p>
          <a:p>
            <a:pPr lvl="1">
              <a:spcAft>
                <a:spcPts val="700"/>
              </a:spcAft>
              <a:defRPr sz="1500" b="0">
                <a:solidFill>
                  <a:srgbClr val="1F2A44"/>
                </a:solidFill>
              </a:defRPr>
            </a:pPr>
            <a:r>
              <a:t>scikit-surprise won't build on Python 3.14 → implemented biased SGD MF in pure NumPy.</a:t>
            </a:r>
          </a:p>
          <a:p>
            <a:pPr>
              <a:spcAft>
                <a:spcPts val="700"/>
              </a:spcAft>
              <a:defRPr sz="1700" b="1">
                <a:solidFill>
                  <a:srgbClr val="2E6FF2"/>
                </a:solidFill>
              </a:defRPr>
            </a:pPr>
            <a:r>
              <a:t>Engineering</a:t>
            </a:r>
          </a:p>
          <a:p>
            <a:pPr lvl="1">
              <a:spcAft>
                <a:spcPts val="700"/>
              </a:spcAft>
              <a:defRPr sz="1500" b="0">
                <a:solidFill>
                  <a:srgbClr val="1F2A44"/>
                </a:solidFill>
              </a:defRPr>
            </a:pPr>
            <a:r>
              <a:t>Kept matrices sparse; pre-trained &amp; pickled models so the Streamlit app loads instantly; UTF-8 console fix.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64592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Prototype (Streamlit)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E6FF2"/>
                </a:solidFill>
              </a:defRPr>
            </a:pPr>
            <a:r>
              <a:t>Explore tab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1F2A44"/>
                </a:solidFill>
              </a:defRPr>
            </a:pPr>
            <a:r>
              <a:t>Pick a user → see their taste profile (top genres, favourite films).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1F2A44"/>
                </a:solidFill>
              </a:defRPr>
            </a:pPr>
            <a:r>
              <a:t>Compare any subset of algorithms side by side for that user.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1F2A44"/>
                </a:solidFill>
              </a:defRPr>
            </a:pPr>
            <a:r>
              <a:t>Every recommendation carries a 'why': matching genres, a similar film you liked, predicted rating, or popularity.</a:t>
            </a:r>
          </a:p>
          <a:p>
            <a:pPr>
              <a:spcAft>
                <a:spcPts val="800"/>
              </a:spcAft>
              <a:defRPr sz="1800" b="1">
                <a:solidFill>
                  <a:srgbClr val="2E6FF2"/>
                </a:solidFill>
              </a:defRPr>
            </a:pPr>
            <a:r>
              <a:t>Evaluation tab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1F2A44"/>
                </a:solidFill>
              </a:defRPr>
            </a:pPr>
            <a:r>
              <a:t>The full metrics table and comparison figures, in-app.</a:t>
            </a:r>
          </a:p>
          <a:p>
            <a:pPr>
              <a:spcAft>
                <a:spcPts val="800"/>
              </a:spcAft>
              <a:defRPr sz="1800" b="1">
                <a:solidFill>
                  <a:srgbClr val="2E6FF2"/>
                </a:solidFill>
              </a:defRPr>
            </a:pPr>
            <a:r>
              <a:t>Engineering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1F2A44"/>
                </a:solidFill>
              </a:defRPr>
            </a:pPr>
            <a:r>
              <a:t>Models pre-trained via build_artifacts.py and cached → instant, responsive UX.</a:t>
            </a:r>
          </a:p>
          <a:p>
            <a:pPr>
              <a:spcAft>
                <a:spcPts val="800"/>
              </a:spcAft>
              <a:defRPr sz="1800" b="1">
                <a:solidFill>
                  <a:srgbClr val="555E6E"/>
                </a:solidFill>
              </a:defRPr>
            </a:pPr>
            <a:r>
              <a:t>Run:  python build_artifacts.py    →    streamlit run app.py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64592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Final Remarks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E6FF2"/>
                </a:solidFill>
              </a:defRPr>
            </a:pPr>
            <a:r>
              <a:t>What the comparison taught us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1F2A44"/>
                </a:solidFill>
              </a:defRPr>
            </a:pPr>
            <a:r>
              <a:t>Neighbourhood CF gives the best top-N here; popularity is a deceptively strong, low-coverage baseline.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1F2A44"/>
                </a:solidFill>
              </a:defRPr>
            </a:pPr>
            <a:r>
              <a:t>Accuracy and beyond-accuracy goals genuinely conflict — the right model depends on the product.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1F2A44"/>
                </a:solidFill>
              </a:defRPr>
            </a:pPr>
            <a:r>
              <a:t>Matrix factorization wins rating prediction; ranking needs a ranking objective.</a:t>
            </a:r>
          </a:p>
          <a:p>
            <a:pPr>
              <a:spcAft>
                <a:spcPts val="800"/>
              </a:spcAft>
              <a:defRPr sz="1800" b="1">
                <a:solidFill>
                  <a:srgbClr val="2E6FF2"/>
                </a:solidFill>
              </a:defRPr>
            </a:pPr>
            <a:r>
              <a:t>Future work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1F2A44"/>
                </a:solidFill>
              </a:defRPr>
            </a:pPr>
            <a:r>
              <a:t>Hybrid CF + content to cover the cold/long-tail items CF cannot score.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1F2A44"/>
                </a:solidFill>
              </a:defRPr>
            </a:pPr>
            <a:r>
              <a:t>Implicit/ranking-loss MF (BPR, ALS) to make latent factors competitive on top-N.</a:t>
            </a:r>
          </a:p>
          <a:p>
            <a:pPr lvl="1">
              <a:spcAft>
                <a:spcPts val="800"/>
              </a:spcAft>
              <a:defRPr sz="1600" b="0">
                <a:solidFill>
                  <a:srgbClr val="1F2A44"/>
                </a:solidFill>
              </a:defRPr>
            </a:pPr>
            <a:r>
              <a:t>Temporal split, cross-validation, and explicit cold-start analysis.</a:t>
            </a:r>
          </a:p>
          <a:p>
            <a:pPr>
              <a:spcAft>
                <a:spcPts val="800"/>
              </a:spcAft>
              <a:defRPr sz="1800" b="1">
                <a:solidFill>
                  <a:srgbClr val="1B7F4B"/>
                </a:solidFill>
              </a:defRPr>
            </a:pPr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